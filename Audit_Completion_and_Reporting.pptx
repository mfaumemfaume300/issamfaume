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Audit Completion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B2FF"/>
                </a:solidFill>
              </a:defRPr>
            </a:pPr>
            <a:r>
              <a:t>A Comprehensive Guide to Professional Audit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Overview of Audit Completion &amp;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Understanding the audit lifecycle and completion phase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Key objectives of audit reporting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Regulatory and compliance requirements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Stakeholder communication strategies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Quality assurance in audit completion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Audit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Audit Planning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Risk assessment and materiality determination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Developing audit strategy and plan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Understanding the entity and its environment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Identifying areas requiring special audit consideration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Resource allocation and team assignment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Fieldwork and Evidence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Substantive testing procedures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Internal control evaluation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Sampling methodologies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Documentation requirements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Working paper organization and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Audit Completion Phase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Activities in Audit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Final analytical procedures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Evaluation of audit evidence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Review of subsequent events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Going concern assessment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Summary of uncorrected misstatements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Final materiality considerations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Subsequent Events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Types of subsequent events (Type I and Type II)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Review period and procedures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Management representation requirements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Disclosure considerations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Impact on audit opinion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Going Concern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Assessment of management's evaluation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Analysis of financial and operational indicators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Review of mitigating factors and management plans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Consideration of post-balance sheet events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Documentation requirements for going concern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Evaluation of Uncorrected Misstatements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Accumulation of identified misstatements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Quantitative and qualitative considerations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Communication with management and governance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Impact on audit opinion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Documentation in summary of uncorrected differences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Quality Review 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Engagement Quality Control Review (EQCR)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Purpose and scope of EQCR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Reviewer independence and qualifications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Key areas of focus in the review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Documentation of EQCR procedures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Resolution of matters raised by reviewer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File Review and Archiving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Internal technical review procedures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Completion of review points and notes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File assembly and archiving requirements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Retention policies and compliance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Securing audit documentation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Management Representations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Written Representations from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Purpose of management representation letter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Required representations per auditing standards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Specific representations related to key audit areas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Timing and dating of representation letter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Handling refusal to provide representations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Areas Covered in Representations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Financial Statements: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Completeness and accuracy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Fair presentation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Accounting policies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Internal Controls: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Design and implementation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Known deficiencies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Fraud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Transactions &amp; Events: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Completeness of records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Related party disclosures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Subsequent events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Estimates &amp; Judgments: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Reasonableness of estimates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Assumptions used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Disclosure adequacy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Audit Reporting Standards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Types of Audit Opinions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Unmodified (Unqualified) Opinion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Modified Opinions: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Qualified Opinion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Adverse Opinion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Disclaimer of Opinion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Emphasis of Matter and Other Matter paragraphs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Unmodified (Clean) Audit Opinion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Financial statements present fairly in all material respects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Conformity with applicable financial reporting framework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Sufficient appropriate audit evidence obtained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Standard report structure and wording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Appropriate for most audit engagements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Modified Audit Opinions -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Qualified Opinion: Material but not pervasive misstatements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Adverse Opinion: Material and pervasive misstatements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Disclaimer of Opinion: Unable to obtain sufficient evidence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Basis for modification paragraph required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Impact on opinion paragraph structure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Qualified Opinion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When to issue: Material but not pervasive issues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'Except for' language in opinion paragraph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Common scenarios requiring qualification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Documentation requirements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Communication with those charged with governance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Adverse vs. Disclaimer Opinions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Adverse Opinion: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Material and pervasive misstatements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Financial statements are not fairly presented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Auditor has obtained sufficient evidence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Rare in practice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Significant reputational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Disclaimer of Opinion: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Unable to obtain sufficient evidence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Scope limitation is material and pervasive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Auditor cannot express an opinion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May result from client-imposed restrictions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Consider withdrawal from engagement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Emphasis of Matter &amp; Other Matter Paragraphs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Emphasis of Matter: Draws attention to FS disclosures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Other Matter: Relevant to users' understanding of audit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Does not affect the audit opinion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Appropriate placement in audit report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Examples: Going concern, significant uncertainties, etc.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Audit Report Structure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Standard Audit Report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Report Title (indicating independent audit)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Addressee (shareholders, board, etc.)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Opinion section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Basis for Opinion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Key Audit Matters (for listed entities)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Responsibilities sections (management and auditor)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Auditor's signature, date, and address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Audit Matters (KAM)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Required for audits of listed entities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Matters of most significance in the audit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Selected from matters communicated to governance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Description of each KAM and audit response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Enhances communicative value of audit report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Does not substitute for required disclosures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Auditor's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Obtain reasonable assurance about FS being free from material misstatement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Exercise professional judgment and skepticism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Identify and assess risks of material misstatement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Obtain sufficient appropriate audit evidence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Evaluate appropriateness of accounting policies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Conclude on going concern basis of accounting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Management's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Preparation and fair presentation of financial statements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Design and implementation of internal controls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Assessment of entity's ability to continue as going concern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Disclosure of going concern uncertainties if applicable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Providing auditor with access to information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Communication with Stakeholders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Communication with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Auditor's responsibilities and scope of audit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Significant findings from the audit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Internal control deficiencies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Qualitative aspects of accounting practices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Auditor independence matters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Difficulties encountered during audit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Management Letter (Letter of Recommendations)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Purpose: Communicate control deficiencies and improvement opportunities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Distinction between significant deficiencies and other matters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Constructive tone with practical recommendations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Management response and action plan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Follow-up on prior year recommendations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Best Practices &amp; Quality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Best Practices for Audit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Maintain professional skepticism throughout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Comprehensive documentation and review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Effective communication with client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Timely resolution of outstanding matters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Thorough quality control reviews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Continuous learning and improvement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Common 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Challenges: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Time pressures and deadlines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Complex accounting estimates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Management bias in judgments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Incomplete information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Scope limitations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Changes in circumstances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Solutions: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Effective planning and resource management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Engage specialists when needed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Apply professional skepticism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Clear communication protocols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Document thoroughly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Regular progress monitoring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7772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Audit completion and reporting require careful attention to detail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Compliance with professional standards is essential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Quality and independence must be maintained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Clear communication enhances audit value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Continuous improvement drives professional excellence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